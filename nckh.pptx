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6" r:id="rId5"/>
    <p:sldId id="256" r:id="rId6"/>
    <p:sldId id="267" r:id="rId7"/>
    <p:sldId id="268" r:id="rId8"/>
    <p:sldId id="257" r:id="rId9"/>
    <p:sldId id="261" r:id="rId10"/>
    <p:sldId id="258" r:id="rId11"/>
    <p:sldId id="259" r:id="rId12"/>
    <p:sldId id="260"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4" autoAdjust="0"/>
    <p:restoredTop sz="94660"/>
  </p:normalViewPr>
  <p:slideViewPr>
    <p:cSldViewPr snapToGrid="0">
      <p:cViewPr>
        <p:scale>
          <a:sx n="100" d="100"/>
          <a:sy n="100" d="100"/>
        </p:scale>
        <p:origin x="400"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96D748-BA6E-4ED0-8969-25F49196B20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2501029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96D748-BA6E-4ED0-8969-25F49196B20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2771646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96D748-BA6E-4ED0-8969-25F49196B20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969232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96D748-BA6E-4ED0-8969-25F49196B20E}"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3767683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96D748-BA6E-4ED0-8969-25F49196B20E}"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188666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96D748-BA6E-4ED0-8969-25F49196B20E}"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2247394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96D748-BA6E-4ED0-8969-25F49196B20E}"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2522878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96D748-BA6E-4ED0-8969-25F49196B20E}"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3587484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96D748-BA6E-4ED0-8969-25F49196B20E}"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1097840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96D748-BA6E-4ED0-8969-25F49196B20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4090664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96D748-BA6E-4ED0-8969-25F49196B20E}"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B6363-4F23-4EFD-AF6E-9CC5E9EE67C8}" type="slidenum">
              <a:rPr lang="en-US" smtClean="0"/>
              <a:t>‹#›</a:t>
            </a:fld>
            <a:endParaRPr lang="en-US"/>
          </a:p>
        </p:txBody>
      </p:sp>
    </p:spTree>
    <p:extLst>
      <p:ext uri="{BB962C8B-B14F-4D97-AF65-F5344CB8AC3E}">
        <p14:creationId xmlns:p14="http://schemas.microsoft.com/office/powerpoint/2010/main" val="1740072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96D748-BA6E-4ED0-8969-25F49196B20E}" type="datetimeFigureOut">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1B6363-4F23-4EFD-AF6E-9CC5E9EE67C8}" type="slidenum">
              <a:rPr lang="en-US" smtClean="0"/>
              <a:t>‹#›</a:t>
            </a:fld>
            <a:endParaRPr lang="en-US"/>
          </a:p>
        </p:txBody>
      </p:sp>
    </p:spTree>
    <p:extLst>
      <p:ext uri="{BB962C8B-B14F-4D97-AF65-F5344CB8AC3E}">
        <p14:creationId xmlns:p14="http://schemas.microsoft.com/office/powerpoint/2010/main" val="195493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fif"/><Relationship Id="rId7" Type="http://schemas.openxmlformats.org/officeDocument/2006/relationships/image" Target="../media/image8.jfif"/><Relationship Id="rId2" Type="http://schemas.openxmlformats.org/officeDocument/2006/relationships/image" Target="../media/image3.jfif"/><Relationship Id="rId1" Type="http://schemas.openxmlformats.org/officeDocument/2006/relationships/slideLayout" Target="../slideLayouts/slideLayout1.xml"/><Relationship Id="rId6" Type="http://schemas.openxmlformats.org/officeDocument/2006/relationships/image" Target="../media/image7.jfif"/><Relationship Id="rId5" Type="http://schemas.openxmlformats.org/officeDocument/2006/relationships/image" Target="../media/image6.jpeg"/><Relationship Id="rId4" Type="http://schemas.openxmlformats.org/officeDocument/2006/relationships/image" Target="../media/image5.jfif"/></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fif"/><Relationship Id="rId2" Type="http://schemas.openxmlformats.org/officeDocument/2006/relationships/image" Target="../media/image12.jfif"/><Relationship Id="rId1" Type="http://schemas.openxmlformats.org/officeDocument/2006/relationships/slideLayout" Target="../slideLayouts/slideLayout2.xml"/><Relationship Id="rId4" Type="http://schemas.openxmlformats.org/officeDocument/2006/relationships/image" Target="../media/image14.jfif"/></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109/ICHST59286.2023.10565368" TargetMode="External"/><Relationship Id="rId2" Type="http://schemas.openxmlformats.org/officeDocument/2006/relationships/hyperlink" Target="https://doi.org/10.1109/ICHST59286.2023.1056537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84291" y="436816"/>
            <a:ext cx="10017630" cy="1200329"/>
          </a:xfrm>
          <a:prstGeom prst="rect">
            <a:avLst/>
          </a:prstGeom>
          <a:noFill/>
        </p:spPr>
        <p:txBody>
          <a:bodyPr wrap="square" rtlCol="0">
            <a:spAutoFit/>
          </a:bodyPr>
          <a:lstStyle/>
          <a:p>
            <a:r>
              <a:rPr lang="en-US" b="1" smtClean="0"/>
              <a:t>Tiêu đề POSTER: </a:t>
            </a:r>
          </a:p>
          <a:p>
            <a:r>
              <a:rPr lang="vi-VN" smtClean="0"/>
              <a:t>LAN </a:t>
            </a:r>
            <a:r>
              <a:rPr lang="vi-VN"/>
              <a:t>TỎA GIẢI PHÁP SAFESTEP AI BELT – HỆ THỐNG PHÁT HIỆN NGÃ VÀ CẢNH BÁO KHẨN CẤP CHO NGƯỜI CAO </a:t>
            </a:r>
            <a:r>
              <a:rPr lang="vi-VN"/>
              <a:t>TUỔI </a:t>
            </a:r>
            <a:endParaRPr lang="en-US" smtClean="0"/>
          </a:p>
          <a:p>
            <a:r>
              <a:rPr lang="vi-VN" b="1" smtClean="0"/>
              <a:t>Lĩnh </a:t>
            </a:r>
            <a:r>
              <a:rPr lang="vi-VN" b="1"/>
              <a:t>vực dự thi: </a:t>
            </a:r>
            <a:r>
              <a:rPr lang="vi-VN"/>
              <a:t>Khoa học xã hội &amp; hành vi – Hệ thống nhúng</a:t>
            </a:r>
            <a:endParaRPr lang="en-US"/>
          </a:p>
        </p:txBody>
      </p:sp>
      <p:sp>
        <p:nvSpPr>
          <p:cNvPr id="5" name="TextBox 4"/>
          <p:cNvSpPr txBox="1"/>
          <p:nvPr/>
        </p:nvSpPr>
        <p:spPr>
          <a:xfrm>
            <a:off x="984291" y="1916707"/>
            <a:ext cx="6137836" cy="2031325"/>
          </a:xfrm>
          <a:prstGeom prst="rect">
            <a:avLst/>
          </a:prstGeom>
          <a:noFill/>
        </p:spPr>
        <p:txBody>
          <a:bodyPr wrap="square" rtlCol="0">
            <a:spAutoFit/>
          </a:bodyPr>
          <a:lstStyle/>
          <a:p>
            <a:r>
              <a:rPr lang="en-US" b="1" smtClean="0"/>
              <a:t>Tiến trình nghiên cứu:</a:t>
            </a:r>
          </a:p>
          <a:p>
            <a:r>
              <a:rPr lang="en-US" smtClean="0"/>
              <a:t>1. </a:t>
            </a:r>
            <a:r>
              <a:rPr lang="vi-VN" smtClean="0"/>
              <a:t>Chọn </a:t>
            </a:r>
            <a:r>
              <a:rPr lang="vi-VN"/>
              <a:t>đối tượng, mục đích, tiêu chí</a:t>
            </a:r>
          </a:p>
          <a:p>
            <a:r>
              <a:rPr lang="en-US" smtClean="0"/>
              <a:t>2. </a:t>
            </a:r>
            <a:r>
              <a:rPr lang="vi-VN" smtClean="0"/>
              <a:t>Khảo </a:t>
            </a:r>
            <a:r>
              <a:rPr lang="vi-VN"/>
              <a:t>sát sản phẩm hiện có, đề xuất hướng CNN</a:t>
            </a:r>
          </a:p>
          <a:p>
            <a:r>
              <a:rPr lang="en-US" smtClean="0"/>
              <a:t>3. </a:t>
            </a:r>
            <a:r>
              <a:rPr lang="vi-VN" smtClean="0"/>
              <a:t>Thu </a:t>
            </a:r>
            <a:r>
              <a:rPr lang="vi-VN"/>
              <a:t>thập dữ liệu NBK-Fall, tiền xử lý, xây mô hình</a:t>
            </a:r>
          </a:p>
          <a:p>
            <a:r>
              <a:rPr lang="en-US" smtClean="0"/>
              <a:t>4. </a:t>
            </a:r>
            <a:r>
              <a:rPr lang="vi-VN" smtClean="0"/>
              <a:t>Chế </a:t>
            </a:r>
            <a:r>
              <a:rPr lang="vi-VN"/>
              <a:t>tạo nguyên mẫu, tích hợp Firebase + App</a:t>
            </a:r>
          </a:p>
          <a:p>
            <a:r>
              <a:rPr lang="en-US" smtClean="0"/>
              <a:t>5. </a:t>
            </a:r>
            <a:r>
              <a:rPr lang="vi-VN" smtClean="0"/>
              <a:t>Đánh </a:t>
            </a:r>
            <a:r>
              <a:rPr lang="vi-VN"/>
              <a:t>giá hiệu năng và tính khả thi</a:t>
            </a:r>
          </a:p>
          <a:p>
            <a:endParaRPr lang="en-US"/>
          </a:p>
        </p:txBody>
      </p:sp>
      <p:sp>
        <p:nvSpPr>
          <p:cNvPr id="6" name="TextBox 5"/>
          <p:cNvSpPr txBox="1"/>
          <p:nvPr/>
        </p:nvSpPr>
        <p:spPr>
          <a:xfrm>
            <a:off x="1060005" y="4180456"/>
            <a:ext cx="8794547" cy="1477328"/>
          </a:xfrm>
          <a:prstGeom prst="rect">
            <a:avLst/>
          </a:prstGeom>
          <a:noFill/>
        </p:spPr>
        <p:txBody>
          <a:bodyPr wrap="square" rtlCol="0">
            <a:spAutoFit/>
          </a:bodyPr>
          <a:lstStyle/>
          <a:p>
            <a:r>
              <a:rPr lang="en-US" b="1"/>
              <a:t>Lý do chọn đề tài:</a:t>
            </a:r>
          </a:p>
          <a:p>
            <a:pPr marL="285750" indent="-285750">
              <a:buFontTx/>
              <a:buChar char="-"/>
            </a:pPr>
            <a:r>
              <a:rPr lang="vi-VN"/>
              <a:t>Tỷ lệ ngã và đột quỵ khi ở một mình tăng cao, phát hiện muộn gây di chứng hoặc tử vong. </a:t>
            </a:r>
            <a:endParaRPr lang="en-US"/>
          </a:p>
          <a:p>
            <a:pPr marL="285750" indent="-285750">
              <a:buFontTx/>
              <a:buChar char="-"/>
            </a:pPr>
            <a:r>
              <a:rPr lang="vi-VN"/>
              <a:t>Thiết bị hiện có còn hạn chế: hay báo sai, thiếu GPS, chi phí cao. • </a:t>
            </a:r>
            <a:endParaRPr lang="en-US"/>
          </a:p>
          <a:p>
            <a:pPr marL="285750" indent="-285750">
              <a:buFontTx/>
              <a:buChar char="-"/>
            </a:pPr>
            <a:r>
              <a:rPr lang="vi-VN"/>
              <a:t>Cần giải pháp đeo tiện lợi, chính xác, định vị và cảnh báo tức thì tới người thân.</a:t>
            </a:r>
            <a:endParaRPr lang="en-US"/>
          </a:p>
        </p:txBody>
      </p:sp>
    </p:spTree>
    <p:extLst>
      <p:ext uri="{BB962C8B-B14F-4D97-AF65-F5344CB8AC3E}">
        <p14:creationId xmlns:p14="http://schemas.microsoft.com/office/powerpoint/2010/main" val="524922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flipH="1">
            <a:off x="564073" y="279561"/>
            <a:ext cx="6384202" cy="2031325"/>
          </a:xfrm>
          <a:prstGeom prst="rect">
            <a:avLst/>
          </a:prstGeom>
          <a:noFill/>
        </p:spPr>
        <p:txBody>
          <a:bodyPr wrap="square" rtlCol="0">
            <a:spAutoFit/>
          </a:bodyPr>
          <a:lstStyle/>
          <a:p>
            <a:r>
              <a:rPr lang="en-US" b="1"/>
              <a:t>Câu hỏi nghiên cứu:</a:t>
            </a:r>
          </a:p>
          <a:p>
            <a:r>
              <a:rPr lang="en-US" smtClean="0"/>
              <a:t>1. </a:t>
            </a:r>
            <a:r>
              <a:rPr lang="vi-VN" smtClean="0"/>
              <a:t>Làm </a:t>
            </a:r>
            <a:r>
              <a:rPr lang="vi-VN"/>
              <a:t>sao phát hiện ngã nhanh và giảm cảnh báo sai?</a:t>
            </a:r>
          </a:p>
          <a:p>
            <a:r>
              <a:rPr lang="en-US" smtClean="0"/>
              <a:t>2. </a:t>
            </a:r>
            <a:r>
              <a:rPr lang="vi-VN" smtClean="0"/>
              <a:t>Làm </a:t>
            </a:r>
            <a:r>
              <a:rPr lang="vi-VN"/>
              <a:t>sao gửi vị trí và cảnh báo tức thời tới người thân?</a:t>
            </a:r>
          </a:p>
          <a:p>
            <a:r>
              <a:rPr lang="en-US" smtClean="0"/>
              <a:t>3. </a:t>
            </a:r>
            <a:r>
              <a:rPr lang="vi-VN" smtClean="0"/>
              <a:t>Thiết </a:t>
            </a:r>
            <a:r>
              <a:rPr lang="vi-VN"/>
              <a:t>bị có thể nhỏ gọn, giá hợp lý, dễ dùng cho người cao tuổi?</a:t>
            </a:r>
          </a:p>
          <a:p>
            <a:r>
              <a:rPr lang="en-US" smtClean="0"/>
              <a:t>4. </a:t>
            </a:r>
            <a:r>
              <a:rPr lang="vi-VN" smtClean="0"/>
              <a:t>Có </a:t>
            </a:r>
            <a:r>
              <a:rPr lang="vi-VN"/>
              <a:t>mở rộng theo dõi sức khỏe, nhắc uống thuốc?</a:t>
            </a:r>
          </a:p>
          <a:p>
            <a:endParaRPr lang="en-US"/>
          </a:p>
        </p:txBody>
      </p:sp>
      <p:sp>
        <p:nvSpPr>
          <p:cNvPr id="5" name="TextBox 4"/>
          <p:cNvSpPr txBox="1"/>
          <p:nvPr/>
        </p:nvSpPr>
        <p:spPr>
          <a:xfrm>
            <a:off x="564073" y="2387924"/>
            <a:ext cx="9459641" cy="2308324"/>
          </a:xfrm>
          <a:prstGeom prst="rect">
            <a:avLst/>
          </a:prstGeom>
          <a:noFill/>
        </p:spPr>
        <p:txBody>
          <a:bodyPr wrap="none" rtlCol="0">
            <a:spAutoFit/>
          </a:bodyPr>
          <a:lstStyle/>
          <a:p>
            <a:r>
              <a:rPr lang="vi-VN" b="1"/>
              <a:t>Phương pháp </a:t>
            </a:r>
            <a:r>
              <a:rPr lang="vi-VN" b="1"/>
              <a:t>nghiên </a:t>
            </a:r>
            <a:r>
              <a:rPr lang="vi-VN" b="1" smtClean="0"/>
              <a:t>cứu</a:t>
            </a:r>
            <a:endParaRPr lang="en-US" b="1" smtClean="0"/>
          </a:p>
          <a:p>
            <a:r>
              <a:rPr lang="vi-VN" smtClean="0"/>
              <a:t>• </a:t>
            </a:r>
            <a:r>
              <a:rPr lang="vi-VN"/>
              <a:t>Phần cứng: ESP32 đọc MPU6050 (I2C), GPS (UART), pin Li-ion + TP4056, buzzer</a:t>
            </a:r>
            <a:r>
              <a:rPr lang="vi-VN"/>
              <a:t>. </a:t>
            </a:r>
            <a:endParaRPr lang="en-US" smtClean="0"/>
          </a:p>
          <a:p>
            <a:r>
              <a:rPr lang="vi-VN" smtClean="0"/>
              <a:t>• </a:t>
            </a:r>
            <a:r>
              <a:rPr lang="vi-VN"/>
              <a:t>Tiền xử lý: lọc thông thấp + Kalman, cửa sổ trượt 0,5s (50 mẫu</a:t>
            </a:r>
            <a:r>
              <a:rPr lang="vi-VN"/>
              <a:t>). </a:t>
            </a:r>
            <a:endParaRPr lang="en-US" smtClean="0"/>
          </a:p>
          <a:p>
            <a:r>
              <a:rPr lang="vi-VN" smtClean="0"/>
              <a:t>• </a:t>
            </a:r>
            <a:r>
              <a:rPr lang="vi-VN"/>
              <a:t>Mô hình: CNN 1D (Conv1D + MaxPooling + Normalization + Dropout; Dense + Softmax</a:t>
            </a:r>
            <a:r>
              <a:rPr lang="vi-VN"/>
              <a:t>), </a:t>
            </a:r>
            <a:endParaRPr lang="en-US" smtClean="0"/>
          </a:p>
          <a:p>
            <a:r>
              <a:rPr lang="vi-VN" smtClean="0"/>
              <a:t>tối </a:t>
            </a:r>
            <a:r>
              <a:rPr lang="vi-VN"/>
              <a:t>ưu AdaGrad, loss Cross Entropy, 30 epochs, batch=200</a:t>
            </a:r>
            <a:r>
              <a:rPr lang="vi-VN"/>
              <a:t>. </a:t>
            </a:r>
            <a:endParaRPr lang="en-US" smtClean="0"/>
          </a:p>
          <a:p>
            <a:r>
              <a:rPr lang="vi-VN" smtClean="0"/>
              <a:t>• </a:t>
            </a:r>
            <a:r>
              <a:rPr lang="vi-VN"/>
              <a:t>Hạ tầng: Firebase Realtime Database, thông báo đẩy, bản đồ Google Maps</a:t>
            </a:r>
            <a:r>
              <a:rPr lang="vi-VN"/>
              <a:t>. </a:t>
            </a:r>
            <a:endParaRPr lang="en-US" smtClean="0"/>
          </a:p>
          <a:p>
            <a:r>
              <a:rPr lang="vi-VN" smtClean="0"/>
              <a:t>• </a:t>
            </a:r>
            <a:r>
              <a:rPr lang="vi-VN"/>
              <a:t>Ứng dụng: Flutter đa nền tảng, hiển thị trạng thái, vị trí, lịch sử.</a:t>
            </a:r>
          </a:p>
          <a:p>
            <a:endParaRPr lang="en-US"/>
          </a:p>
        </p:txBody>
      </p:sp>
    </p:spTree>
    <p:extLst>
      <p:ext uri="{BB962C8B-B14F-4D97-AF65-F5344CB8AC3E}">
        <p14:creationId xmlns:p14="http://schemas.microsoft.com/office/powerpoint/2010/main" val="4206761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556" y="312956"/>
            <a:ext cx="6096000" cy="2585323"/>
          </a:xfrm>
          <a:prstGeom prst="rect">
            <a:avLst/>
          </a:prstGeom>
        </p:spPr>
        <p:txBody>
          <a:bodyPr>
            <a:spAutoFit/>
          </a:bodyPr>
          <a:lstStyle/>
          <a:p>
            <a:r>
              <a:rPr lang="vi-VN" b="1"/>
              <a:t>Dữ liệu NBK-Fall (tham khảo KFALL và mở rộng</a:t>
            </a:r>
            <a:r>
              <a:rPr lang="vi-VN" b="1"/>
              <a:t>) </a:t>
            </a:r>
            <a:endParaRPr lang="en-US" b="1" smtClean="0"/>
          </a:p>
          <a:p>
            <a:r>
              <a:rPr lang="vi-VN" smtClean="0"/>
              <a:t>• </a:t>
            </a:r>
            <a:r>
              <a:rPr lang="vi-VN"/>
              <a:t>5 người tình nguyện (đeo tại vùng eo), quay video đồng bộ dữ liệu .csv</a:t>
            </a:r>
            <a:r>
              <a:rPr lang="vi-VN"/>
              <a:t>. </a:t>
            </a:r>
            <a:endParaRPr lang="en-US" smtClean="0"/>
          </a:p>
          <a:p>
            <a:r>
              <a:rPr lang="vi-VN" smtClean="0"/>
              <a:t>• </a:t>
            </a:r>
            <a:r>
              <a:rPr lang="vi-VN"/>
              <a:t>36 hoạt động: 21 thường ngày + 15 kiểu ngã mô phỏng an toàn</a:t>
            </a:r>
            <a:r>
              <a:rPr lang="vi-VN"/>
              <a:t>. </a:t>
            </a:r>
            <a:endParaRPr lang="en-US" smtClean="0"/>
          </a:p>
          <a:p>
            <a:r>
              <a:rPr lang="vi-VN" smtClean="0"/>
              <a:t>• </a:t>
            </a:r>
            <a:r>
              <a:rPr lang="vi-VN"/>
              <a:t>3.075 tệp: 1.729 “không ngã”, 1.346 “ngã</a:t>
            </a:r>
            <a:r>
              <a:rPr lang="vi-VN"/>
              <a:t>”. </a:t>
            </a:r>
            <a:endParaRPr lang="en-US" smtClean="0"/>
          </a:p>
          <a:p>
            <a:r>
              <a:rPr lang="vi-VN" smtClean="0"/>
              <a:t>• </a:t>
            </a:r>
            <a:r>
              <a:rPr lang="vi-VN"/>
              <a:t>Gán nhãn thủ công đồng bộ video–tín hiệu, đảm bảo độ chính xác thời điểm.</a:t>
            </a:r>
          </a:p>
          <a:p>
            <a:endParaRPr lang="vi-VN" b="0" i="0">
              <a:solidFill>
                <a:srgbClr val="F6F6F4"/>
              </a:solidFill>
              <a:effectLst/>
              <a:latin typeface="Segoe WPC"/>
            </a:endParaRPr>
          </a:p>
        </p:txBody>
      </p:sp>
      <p:pic>
        <p:nvPicPr>
          <p:cNvPr id="5" name="Picture 4"/>
          <p:cNvPicPr>
            <a:picLocks noChangeAspect="1"/>
          </p:cNvPicPr>
          <p:nvPr/>
        </p:nvPicPr>
        <p:blipFill>
          <a:blip r:embed="rId2"/>
          <a:stretch>
            <a:fillRect/>
          </a:stretch>
        </p:blipFill>
        <p:spPr>
          <a:xfrm>
            <a:off x="330433" y="2825750"/>
            <a:ext cx="3682767" cy="2798150"/>
          </a:xfrm>
          <a:prstGeom prst="rect">
            <a:avLst/>
          </a:prstGeom>
        </p:spPr>
      </p:pic>
      <p:pic>
        <p:nvPicPr>
          <p:cNvPr id="6" name="Picture 5"/>
          <p:cNvPicPr>
            <a:picLocks noChangeAspect="1"/>
          </p:cNvPicPr>
          <p:nvPr/>
        </p:nvPicPr>
        <p:blipFill>
          <a:blip r:embed="rId3"/>
          <a:stretch>
            <a:fillRect/>
          </a:stretch>
        </p:blipFill>
        <p:spPr>
          <a:xfrm>
            <a:off x="4228656" y="2825751"/>
            <a:ext cx="3944760" cy="2798150"/>
          </a:xfrm>
          <a:prstGeom prst="rect">
            <a:avLst/>
          </a:prstGeom>
        </p:spPr>
      </p:pic>
    </p:spTree>
    <p:extLst>
      <p:ext uri="{BB962C8B-B14F-4D97-AF65-F5344CB8AC3E}">
        <p14:creationId xmlns:p14="http://schemas.microsoft.com/office/powerpoint/2010/main" val="3337468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4500" y="174189"/>
            <a:ext cx="9251950" cy="1477328"/>
          </a:xfrm>
          <a:prstGeom prst="rect">
            <a:avLst/>
          </a:prstGeom>
        </p:spPr>
        <p:txBody>
          <a:bodyPr wrap="square">
            <a:spAutoFit/>
          </a:bodyPr>
          <a:lstStyle/>
          <a:p>
            <a:r>
              <a:rPr lang="vi-VN" b="1" smtClean="0"/>
              <a:t>Tính khả thi và điểm mạnh </a:t>
            </a:r>
            <a:endParaRPr lang="en-US" b="1" smtClean="0"/>
          </a:p>
          <a:p>
            <a:r>
              <a:rPr lang="vi-VN" smtClean="0"/>
              <a:t>• Giảm cảnh báo sai nhờ CNN học đặc trưng theo chuỗi thời gian. </a:t>
            </a:r>
            <a:endParaRPr lang="en-US" smtClean="0"/>
          </a:p>
          <a:p>
            <a:r>
              <a:rPr lang="vi-VN" smtClean="0"/>
              <a:t>• Định vị kèm cảnh báo đẩy, hỗ trợ kịp thời cho người thân. </a:t>
            </a:r>
            <a:endParaRPr lang="en-US" smtClean="0"/>
          </a:p>
          <a:p>
            <a:r>
              <a:rPr lang="vi-VN" smtClean="0"/>
              <a:t>• Chi phí linh kiện phổ biến, dễ chế tạo, phù hợp điều kiện Việt Nam. </a:t>
            </a:r>
            <a:endParaRPr lang="en-US" smtClean="0"/>
          </a:p>
          <a:p>
            <a:r>
              <a:rPr lang="vi-VN" smtClean="0"/>
              <a:t>• Nền tảng mở rộng: nhắc uống thuốc, đo nhịp tim, lưu trữ – phân tích sức khỏe.</a:t>
            </a:r>
            <a:endParaRPr lang="vi-VN"/>
          </a:p>
        </p:txBody>
      </p:sp>
      <p:sp>
        <p:nvSpPr>
          <p:cNvPr id="5" name="Rectangle 4"/>
          <p:cNvSpPr/>
          <p:nvPr/>
        </p:nvSpPr>
        <p:spPr>
          <a:xfrm>
            <a:off x="349250" y="1941036"/>
            <a:ext cx="9721850" cy="1477328"/>
          </a:xfrm>
          <a:prstGeom prst="rect">
            <a:avLst/>
          </a:prstGeom>
        </p:spPr>
        <p:txBody>
          <a:bodyPr wrap="square">
            <a:spAutoFit/>
          </a:bodyPr>
          <a:lstStyle/>
          <a:p>
            <a:r>
              <a:rPr lang="vi-VN" b="1"/>
              <a:t>Ứng dụng di động (App Flutter</a:t>
            </a:r>
            <a:r>
              <a:rPr lang="vi-VN" b="1"/>
              <a:t>) </a:t>
            </a:r>
            <a:endParaRPr lang="en-US" b="1" smtClean="0"/>
          </a:p>
          <a:p>
            <a:r>
              <a:rPr lang="vi-VN" smtClean="0"/>
              <a:t>• </a:t>
            </a:r>
            <a:r>
              <a:rPr lang="vi-VN"/>
              <a:t>Nhận cảnh báo ngã theo thời gian thực từ Firebase</a:t>
            </a:r>
            <a:r>
              <a:rPr lang="vi-VN"/>
              <a:t>. </a:t>
            </a:r>
            <a:endParaRPr lang="en-US" smtClean="0"/>
          </a:p>
          <a:p>
            <a:r>
              <a:rPr lang="vi-VN" smtClean="0"/>
              <a:t>• </a:t>
            </a:r>
            <a:r>
              <a:rPr lang="vi-VN"/>
              <a:t>Hiển thị bản đồ vị trí người đeo</a:t>
            </a:r>
            <a:r>
              <a:rPr lang="vi-VN"/>
              <a:t>. </a:t>
            </a:r>
            <a:endParaRPr lang="en-US" smtClean="0"/>
          </a:p>
          <a:p>
            <a:r>
              <a:rPr lang="vi-VN" smtClean="0"/>
              <a:t>• </a:t>
            </a:r>
            <a:r>
              <a:rPr lang="vi-VN"/>
              <a:t>Lưu lịch sử sự kiện (thời gian – tọa độ), thống kê cơ bản</a:t>
            </a:r>
            <a:r>
              <a:rPr lang="vi-VN"/>
              <a:t>. </a:t>
            </a:r>
            <a:endParaRPr lang="en-US" smtClean="0"/>
          </a:p>
          <a:p>
            <a:r>
              <a:rPr lang="vi-VN" smtClean="0"/>
              <a:t>• </a:t>
            </a:r>
            <a:r>
              <a:rPr lang="vi-VN"/>
              <a:t>Mở rộng: chăm sóc, nhắc lịch, theo dõi chỉ số sức khỏe.</a:t>
            </a:r>
          </a:p>
        </p:txBody>
      </p:sp>
      <p:sp>
        <p:nvSpPr>
          <p:cNvPr id="6" name="Rectangle 5"/>
          <p:cNvSpPr/>
          <p:nvPr/>
        </p:nvSpPr>
        <p:spPr>
          <a:xfrm>
            <a:off x="444500" y="4252436"/>
            <a:ext cx="6096000" cy="2031325"/>
          </a:xfrm>
          <a:prstGeom prst="rect">
            <a:avLst/>
          </a:prstGeom>
        </p:spPr>
        <p:txBody>
          <a:bodyPr>
            <a:spAutoFit/>
          </a:bodyPr>
          <a:lstStyle/>
          <a:p>
            <a:r>
              <a:rPr lang="vi-VN" b="1"/>
              <a:t>Kết luận khoa </a:t>
            </a:r>
            <a:r>
              <a:rPr lang="vi-VN" b="1"/>
              <a:t>học </a:t>
            </a:r>
            <a:endParaRPr lang="en-US" b="1" smtClean="0"/>
          </a:p>
          <a:p>
            <a:r>
              <a:rPr lang="vi-VN" smtClean="0"/>
              <a:t>• </a:t>
            </a:r>
            <a:r>
              <a:rPr lang="vi-VN"/>
              <a:t>Mô hình CNN trên dữ liệu cảm biến đeo cho độ chính xác cao, giảm nhiễu và báo sai</a:t>
            </a:r>
            <a:r>
              <a:rPr lang="vi-VN"/>
              <a:t>. </a:t>
            </a:r>
            <a:endParaRPr lang="en-US" smtClean="0"/>
          </a:p>
          <a:p>
            <a:r>
              <a:rPr lang="vi-VN" smtClean="0"/>
              <a:t>• </a:t>
            </a:r>
            <a:r>
              <a:rPr lang="vi-VN"/>
              <a:t>Kiến trúc IoT + Cloud giúp phản hồi tức thì, dễ bảo trì, mở rộng tính năng</a:t>
            </a:r>
            <a:r>
              <a:rPr lang="vi-VN"/>
              <a:t>. </a:t>
            </a:r>
            <a:endParaRPr lang="en-US" smtClean="0"/>
          </a:p>
          <a:p>
            <a:r>
              <a:rPr lang="vi-VN" smtClean="0"/>
              <a:t>• </a:t>
            </a:r>
            <a:r>
              <a:rPr lang="vi-VN"/>
              <a:t>SafeStep AI Belt là giải pháp khả thi, chi phí hợp lý, góp phần bảo vệ người cao tuổi.</a:t>
            </a:r>
          </a:p>
        </p:txBody>
      </p:sp>
    </p:spTree>
    <p:extLst>
      <p:ext uri="{BB962C8B-B14F-4D97-AF65-F5344CB8AC3E}">
        <p14:creationId xmlns:p14="http://schemas.microsoft.com/office/powerpoint/2010/main" val="3045472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17980" y="1285004"/>
            <a:ext cx="1829980" cy="368839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19862" y="1285004"/>
            <a:ext cx="1825995" cy="3762657"/>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2296" y="1276190"/>
            <a:ext cx="1907705" cy="3825974"/>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0674" y="1276190"/>
            <a:ext cx="1918920" cy="3825973"/>
          </a:xfrm>
          <a:prstGeom prst="rect">
            <a:avLst/>
          </a:prstGeom>
        </p:spPr>
      </p:pic>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05787" y="1269676"/>
            <a:ext cx="1918363" cy="3832487"/>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69892" y="1269676"/>
            <a:ext cx="1870290" cy="3777985"/>
          </a:xfrm>
          <a:prstGeom prst="rect">
            <a:avLst/>
          </a:prstGeom>
        </p:spPr>
      </p:pic>
      <p:sp>
        <p:nvSpPr>
          <p:cNvPr id="13" name="TextBox 12"/>
          <p:cNvSpPr txBox="1"/>
          <p:nvPr/>
        </p:nvSpPr>
        <p:spPr>
          <a:xfrm>
            <a:off x="3931338" y="6051348"/>
            <a:ext cx="5206838" cy="369332"/>
          </a:xfrm>
          <a:prstGeom prst="rect">
            <a:avLst/>
          </a:prstGeom>
          <a:noFill/>
        </p:spPr>
        <p:txBody>
          <a:bodyPr wrap="square" rtlCol="0">
            <a:spAutoFit/>
          </a:bodyPr>
          <a:lstStyle/>
          <a:p>
            <a:r>
              <a:rPr lang="en-US" b="1" smtClean="0"/>
              <a:t>ỨNG DỤNG DI ĐỘNG `NGUYỄN BỈNH KHIÊM CARE`</a:t>
            </a:r>
            <a:endParaRPr lang="en-US" b="1"/>
          </a:p>
        </p:txBody>
      </p:sp>
    </p:spTree>
    <p:extLst>
      <p:ext uri="{BB962C8B-B14F-4D97-AF65-F5344CB8AC3E}">
        <p14:creationId xmlns:p14="http://schemas.microsoft.com/office/powerpoint/2010/main" val="1890064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530350" y="330716"/>
            <a:ext cx="8921750" cy="4603750"/>
          </a:xfrm>
          <a:prstGeom prst="rect">
            <a:avLst/>
          </a:prstGeom>
        </p:spPr>
      </p:pic>
      <p:sp>
        <p:nvSpPr>
          <p:cNvPr id="5" name="TextBox 4"/>
          <p:cNvSpPr txBox="1"/>
          <p:nvPr/>
        </p:nvSpPr>
        <p:spPr>
          <a:xfrm>
            <a:off x="4267200" y="4934466"/>
            <a:ext cx="2075505" cy="369332"/>
          </a:xfrm>
          <a:prstGeom prst="rect">
            <a:avLst/>
          </a:prstGeom>
          <a:noFill/>
        </p:spPr>
        <p:txBody>
          <a:bodyPr wrap="none" rtlCol="0">
            <a:spAutoFit/>
          </a:bodyPr>
          <a:lstStyle/>
          <a:p>
            <a:r>
              <a:rPr lang="en-US" b="1" smtClean="0"/>
              <a:t>Tổng quan hệ thống</a:t>
            </a:r>
            <a:endParaRPr lang="en-US" b="1"/>
          </a:p>
        </p:txBody>
      </p:sp>
    </p:spTree>
    <p:extLst>
      <p:ext uri="{BB962C8B-B14F-4D97-AF65-F5344CB8AC3E}">
        <p14:creationId xmlns:p14="http://schemas.microsoft.com/office/powerpoint/2010/main" val="2693280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544637" y="1515745"/>
            <a:ext cx="3552825" cy="2480310"/>
          </a:xfrm>
          <a:prstGeom prst="rect">
            <a:avLst/>
          </a:prstGeom>
        </p:spPr>
      </p:pic>
      <p:pic>
        <p:nvPicPr>
          <p:cNvPr id="5" name="Picture 4"/>
          <p:cNvPicPr>
            <a:picLocks noChangeAspect="1"/>
          </p:cNvPicPr>
          <p:nvPr/>
        </p:nvPicPr>
        <p:blipFill>
          <a:blip r:embed="rId3"/>
          <a:stretch>
            <a:fillRect/>
          </a:stretch>
        </p:blipFill>
        <p:spPr>
          <a:xfrm>
            <a:off x="6305550" y="284006"/>
            <a:ext cx="3792988" cy="5335744"/>
          </a:xfrm>
          <a:prstGeom prst="rect">
            <a:avLst/>
          </a:prstGeom>
        </p:spPr>
      </p:pic>
      <p:sp>
        <p:nvSpPr>
          <p:cNvPr id="6" name="TextBox 5"/>
          <p:cNvSpPr txBox="1"/>
          <p:nvPr/>
        </p:nvSpPr>
        <p:spPr>
          <a:xfrm>
            <a:off x="4940300" y="6051550"/>
            <a:ext cx="974947" cy="369332"/>
          </a:xfrm>
          <a:prstGeom prst="rect">
            <a:avLst/>
          </a:prstGeom>
          <a:noFill/>
        </p:spPr>
        <p:txBody>
          <a:bodyPr wrap="none" rtlCol="0">
            <a:spAutoFit/>
          </a:bodyPr>
          <a:lstStyle/>
          <a:p>
            <a:r>
              <a:rPr lang="en-US" b="1" smtClean="0"/>
              <a:t>THIẾT BỊ</a:t>
            </a:r>
            <a:endParaRPr lang="en-US" b="1"/>
          </a:p>
        </p:txBody>
      </p:sp>
    </p:spTree>
    <p:extLst>
      <p:ext uri="{BB962C8B-B14F-4D97-AF65-F5344CB8AC3E}">
        <p14:creationId xmlns:p14="http://schemas.microsoft.com/office/powerpoint/2010/main" val="499652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8187" y="627089"/>
            <a:ext cx="2406155" cy="481231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04816" y="627089"/>
            <a:ext cx="2396865" cy="481231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50725" y="627089"/>
            <a:ext cx="2293184" cy="4812310"/>
          </a:xfrm>
          <a:prstGeom prst="rect">
            <a:avLst/>
          </a:prstGeom>
        </p:spPr>
      </p:pic>
      <p:sp>
        <p:nvSpPr>
          <p:cNvPr id="7" name="TextBox 6"/>
          <p:cNvSpPr txBox="1"/>
          <p:nvPr/>
        </p:nvSpPr>
        <p:spPr>
          <a:xfrm>
            <a:off x="3190479" y="5684424"/>
            <a:ext cx="5206838" cy="369332"/>
          </a:xfrm>
          <a:prstGeom prst="rect">
            <a:avLst/>
          </a:prstGeom>
          <a:noFill/>
        </p:spPr>
        <p:txBody>
          <a:bodyPr wrap="square" rtlCol="0">
            <a:spAutoFit/>
          </a:bodyPr>
          <a:lstStyle/>
          <a:p>
            <a:r>
              <a:rPr lang="en-US" b="1" smtClean="0"/>
              <a:t>ỨNG DỤNG DI ĐỘNG `NGUYỄN BỈNH KHIÊM CARE`</a:t>
            </a:r>
            <a:endParaRPr lang="en-US" b="1"/>
          </a:p>
        </p:txBody>
      </p:sp>
    </p:spTree>
    <p:extLst>
      <p:ext uri="{BB962C8B-B14F-4D97-AF65-F5344CB8AC3E}">
        <p14:creationId xmlns:p14="http://schemas.microsoft.com/office/powerpoint/2010/main" val="1047352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4216723" y="1135720"/>
            <a:ext cx="3238258" cy="4991343"/>
          </a:xfrm>
          <a:prstGeom prst="rect">
            <a:avLst/>
          </a:prstGeom>
        </p:spPr>
      </p:pic>
      <p:sp>
        <p:nvSpPr>
          <p:cNvPr id="5" name="TextBox 4"/>
          <p:cNvSpPr txBox="1"/>
          <p:nvPr/>
        </p:nvSpPr>
        <p:spPr>
          <a:xfrm>
            <a:off x="4798773" y="669784"/>
            <a:ext cx="2074158" cy="369332"/>
          </a:xfrm>
          <a:prstGeom prst="rect">
            <a:avLst/>
          </a:prstGeom>
          <a:noFill/>
        </p:spPr>
        <p:txBody>
          <a:bodyPr wrap="none" rtlCol="0">
            <a:spAutoFit/>
          </a:bodyPr>
          <a:lstStyle/>
          <a:p>
            <a:r>
              <a:rPr lang="en-US" b="1" smtClean="0"/>
              <a:t>TRÍ TUỆ NHÂN TẠO</a:t>
            </a:r>
            <a:endParaRPr lang="en-US" b="1"/>
          </a:p>
        </p:txBody>
      </p:sp>
    </p:spTree>
    <p:extLst>
      <p:ext uri="{BB962C8B-B14F-4D97-AF65-F5344CB8AC3E}">
        <p14:creationId xmlns:p14="http://schemas.microsoft.com/office/powerpoint/2010/main" val="1333702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10050" y="413519"/>
            <a:ext cx="2074158" cy="369332"/>
          </a:xfrm>
          <a:prstGeom prst="rect">
            <a:avLst/>
          </a:prstGeom>
          <a:noFill/>
        </p:spPr>
        <p:txBody>
          <a:bodyPr wrap="none" rtlCol="0">
            <a:spAutoFit/>
          </a:bodyPr>
          <a:lstStyle/>
          <a:p>
            <a:r>
              <a:rPr lang="en-US" b="1" smtClean="0"/>
              <a:t>TRÍ TUỆ NHÂN TẠO</a:t>
            </a:r>
            <a:endParaRPr lang="en-US" b="1"/>
          </a:p>
        </p:txBody>
      </p:sp>
      <p:pic>
        <p:nvPicPr>
          <p:cNvPr id="5" name="Picture 4"/>
          <p:cNvPicPr/>
          <p:nvPr/>
        </p:nvPicPr>
        <p:blipFill>
          <a:blip r:embed="rId2"/>
          <a:stretch>
            <a:fillRect/>
          </a:stretch>
        </p:blipFill>
        <p:spPr>
          <a:xfrm>
            <a:off x="1074078" y="2005729"/>
            <a:ext cx="4761774" cy="2566271"/>
          </a:xfrm>
          <a:prstGeom prst="rect">
            <a:avLst/>
          </a:prstGeom>
          <a:ln>
            <a:solidFill>
              <a:schemeClr val="tx1"/>
            </a:solidFill>
          </a:ln>
        </p:spPr>
      </p:pic>
      <p:sp>
        <p:nvSpPr>
          <p:cNvPr id="6" name="TextBox 5"/>
          <p:cNvSpPr txBox="1"/>
          <p:nvPr/>
        </p:nvSpPr>
        <p:spPr>
          <a:xfrm>
            <a:off x="2527704" y="1626457"/>
            <a:ext cx="3948810" cy="369332"/>
          </a:xfrm>
          <a:prstGeom prst="rect">
            <a:avLst/>
          </a:prstGeom>
          <a:noFill/>
        </p:spPr>
        <p:txBody>
          <a:bodyPr wrap="square" rtlCol="0">
            <a:spAutoFit/>
          </a:bodyPr>
          <a:lstStyle/>
          <a:p>
            <a:r>
              <a:rPr lang="en-US" b="1" smtClean="0"/>
              <a:t>Dữ liệu đầu vào</a:t>
            </a:r>
            <a:endParaRPr lang="en-US" b="1"/>
          </a:p>
        </p:txBody>
      </p:sp>
      <p:pic>
        <p:nvPicPr>
          <p:cNvPr id="7" name="Picture 6"/>
          <p:cNvPicPr/>
          <p:nvPr/>
        </p:nvPicPr>
        <p:blipFill>
          <a:blip r:embed="rId3"/>
          <a:stretch>
            <a:fillRect/>
          </a:stretch>
        </p:blipFill>
        <p:spPr>
          <a:xfrm>
            <a:off x="6872560" y="1995789"/>
            <a:ext cx="4368654" cy="2576211"/>
          </a:xfrm>
          <a:prstGeom prst="rect">
            <a:avLst/>
          </a:prstGeom>
          <a:solidFill>
            <a:schemeClr val="tx1"/>
          </a:solidFill>
          <a:ln>
            <a:solidFill>
              <a:schemeClr val="tx1"/>
            </a:solidFill>
          </a:ln>
        </p:spPr>
      </p:pic>
      <p:sp>
        <p:nvSpPr>
          <p:cNvPr id="8" name="TextBox 7"/>
          <p:cNvSpPr txBox="1"/>
          <p:nvPr/>
        </p:nvSpPr>
        <p:spPr>
          <a:xfrm>
            <a:off x="7637267" y="1636397"/>
            <a:ext cx="2839239" cy="369332"/>
          </a:xfrm>
          <a:prstGeom prst="rect">
            <a:avLst/>
          </a:prstGeom>
          <a:noFill/>
        </p:spPr>
        <p:txBody>
          <a:bodyPr wrap="none" rtlCol="0">
            <a:spAutoFit/>
          </a:bodyPr>
          <a:lstStyle/>
          <a:p>
            <a:r>
              <a:rPr lang="en-US" b="1" smtClean="0"/>
              <a:t>Dữ liệu đã được phân đoạn</a:t>
            </a:r>
            <a:endParaRPr lang="en-US" b="1"/>
          </a:p>
        </p:txBody>
      </p:sp>
      <p:sp>
        <p:nvSpPr>
          <p:cNvPr id="10" name="TextBox 9"/>
          <p:cNvSpPr txBox="1"/>
          <p:nvPr/>
        </p:nvSpPr>
        <p:spPr>
          <a:xfrm>
            <a:off x="984290" y="1067489"/>
            <a:ext cx="3170868" cy="369332"/>
          </a:xfrm>
          <a:prstGeom prst="rect">
            <a:avLst/>
          </a:prstGeom>
          <a:noFill/>
        </p:spPr>
        <p:txBody>
          <a:bodyPr wrap="none" rtlCol="0">
            <a:spAutoFit/>
          </a:bodyPr>
          <a:lstStyle/>
          <a:p>
            <a:r>
              <a:rPr lang="en-US" b="1" smtClean="0"/>
              <a:t>1. Dữ liệu đầu vào cho mô hình</a:t>
            </a:r>
            <a:endParaRPr lang="en-US" b="1"/>
          </a:p>
        </p:txBody>
      </p:sp>
      <p:sp>
        <p:nvSpPr>
          <p:cNvPr id="11" name="TextBox 10"/>
          <p:cNvSpPr txBox="1"/>
          <p:nvPr/>
        </p:nvSpPr>
        <p:spPr>
          <a:xfrm>
            <a:off x="4798773" y="413519"/>
            <a:ext cx="2074158" cy="369332"/>
          </a:xfrm>
          <a:prstGeom prst="rect">
            <a:avLst/>
          </a:prstGeom>
          <a:noFill/>
        </p:spPr>
        <p:txBody>
          <a:bodyPr wrap="none" rtlCol="0">
            <a:spAutoFit/>
          </a:bodyPr>
          <a:lstStyle/>
          <a:p>
            <a:r>
              <a:rPr lang="en-US" b="1" smtClean="0"/>
              <a:t>TRÍ TUỆ NHÂN TẠO</a:t>
            </a:r>
            <a:endParaRPr lang="en-US" b="1"/>
          </a:p>
        </p:txBody>
      </p:sp>
    </p:spTree>
    <p:extLst>
      <p:ext uri="{BB962C8B-B14F-4D97-AF65-F5344CB8AC3E}">
        <p14:creationId xmlns:p14="http://schemas.microsoft.com/office/powerpoint/2010/main" val="433527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2232578" y="1700667"/>
            <a:ext cx="7056509" cy="4234196"/>
          </a:xfrm>
          <a:prstGeom prst="rect">
            <a:avLst/>
          </a:prstGeom>
          <a:ln>
            <a:solidFill>
              <a:schemeClr val="tx1"/>
            </a:solidFill>
          </a:ln>
        </p:spPr>
      </p:pic>
      <p:sp>
        <p:nvSpPr>
          <p:cNvPr id="5" name="TextBox 4"/>
          <p:cNvSpPr txBox="1"/>
          <p:nvPr/>
        </p:nvSpPr>
        <p:spPr>
          <a:xfrm>
            <a:off x="148031" y="1135720"/>
            <a:ext cx="6818149" cy="369332"/>
          </a:xfrm>
          <a:prstGeom prst="rect">
            <a:avLst/>
          </a:prstGeom>
          <a:noFill/>
        </p:spPr>
        <p:txBody>
          <a:bodyPr wrap="none" rtlCol="0">
            <a:spAutoFit/>
          </a:bodyPr>
          <a:lstStyle/>
          <a:p>
            <a:r>
              <a:rPr lang="en-US" b="1" smtClean="0"/>
              <a:t>2. Mô hình phân loại Ngã và Không Ngã CNN (Mạng Nơron Tích Chập)</a:t>
            </a:r>
            <a:endParaRPr lang="en-US" b="1"/>
          </a:p>
        </p:txBody>
      </p:sp>
      <p:sp>
        <p:nvSpPr>
          <p:cNvPr id="6" name="TextBox 5"/>
          <p:cNvSpPr txBox="1"/>
          <p:nvPr/>
        </p:nvSpPr>
        <p:spPr>
          <a:xfrm>
            <a:off x="4507934" y="570773"/>
            <a:ext cx="2002023" cy="369332"/>
          </a:xfrm>
          <a:prstGeom prst="rect">
            <a:avLst/>
          </a:prstGeom>
          <a:noFill/>
        </p:spPr>
        <p:txBody>
          <a:bodyPr wrap="none" rtlCol="0">
            <a:spAutoFit/>
          </a:bodyPr>
          <a:lstStyle/>
          <a:p>
            <a:r>
              <a:rPr lang="en-US" b="1" smtClean="0"/>
              <a:t>TRÍ TUỆ NHÂN TẠO</a:t>
            </a:r>
            <a:endParaRPr lang="en-US" b="1"/>
          </a:p>
        </p:txBody>
      </p:sp>
    </p:spTree>
    <p:extLst>
      <p:ext uri="{BB962C8B-B14F-4D97-AF65-F5344CB8AC3E}">
        <p14:creationId xmlns:p14="http://schemas.microsoft.com/office/powerpoint/2010/main" val="4133621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rotWithShape="1">
          <a:blip r:embed="rId2"/>
          <a:srcRect r="11262"/>
          <a:stretch/>
        </p:blipFill>
        <p:spPr bwMode="auto">
          <a:xfrm>
            <a:off x="554277" y="1156034"/>
            <a:ext cx="4064315" cy="3390460"/>
          </a:xfrm>
          <a:prstGeom prst="rect">
            <a:avLst/>
          </a:prstGeom>
          <a:ln>
            <a:noFill/>
          </a:ln>
          <a:extLst>
            <a:ext uri="{53640926-AAD7-44D8-BBD7-CCE9431645EC}">
              <a14:shadowObscured xmlns:a14="http://schemas.microsoft.com/office/drawing/2010/main"/>
            </a:ext>
          </a:extLst>
        </p:spPr>
      </p:pic>
      <p:sp>
        <p:nvSpPr>
          <p:cNvPr id="5" name="TextBox 4"/>
          <p:cNvSpPr txBox="1"/>
          <p:nvPr/>
        </p:nvSpPr>
        <p:spPr>
          <a:xfrm>
            <a:off x="308707" y="571207"/>
            <a:ext cx="2865528" cy="369332"/>
          </a:xfrm>
          <a:prstGeom prst="rect">
            <a:avLst/>
          </a:prstGeom>
          <a:noFill/>
        </p:spPr>
        <p:txBody>
          <a:bodyPr wrap="none" rtlCol="0">
            <a:spAutoFit/>
          </a:bodyPr>
          <a:lstStyle/>
          <a:p>
            <a:r>
              <a:rPr lang="en-US" b="1" smtClean="0"/>
              <a:t>3. Kết quả đánh giá mô hình</a:t>
            </a:r>
            <a:endParaRPr lang="en-US" b="1"/>
          </a:p>
        </p:txBody>
      </p:sp>
      <p:graphicFrame>
        <p:nvGraphicFramePr>
          <p:cNvPr id="8" name="Table 7"/>
          <p:cNvGraphicFramePr>
            <a:graphicFrameLocks noGrp="1"/>
          </p:cNvGraphicFramePr>
          <p:nvPr>
            <p:extLst>
              <p:ext uri="{D42A27DB-BD31-4B8C-83A1-F6EECF244321}">
                <p14:modId xmlns:p14="http://schemas.microsoft.com/office/powerpoint/2010/main" val="168823230"/>
              </p:ext>
            </p:extLst>
          </p:nvPr>
        </p:nvGraphicFramePr>
        <p:xfrm>
          <a:off x="700953" y="4623400"/>
          <a:ext cx="6123940" cy="1190308"/>
        </p:xfrm>
        <a:graphic>
          <a:graphicData uri="http://schemas.openxmlformats.org/drawingml/2006/table">
            <a:tbl>
              <a:tblPr firstRow="1" firstCol="1" bandRow="1">
                <a:tableStyleId>{5C22544A-7EE6-4342-B048-85BDC9FD1C3A}</a:tableStyleId>
              </a:tblPr>
              <a:tblGrid>
                <a:gridCol w="1123315"/>
                <a:gridCol w="1000125"/>
                <a:gridCol w="1000125"/>
                <a:gridCol w="1111885"/>
                <a:gridCol w="887730"/>
                <a:gridCol w="1000760"/>
              </a:tblGrid>
              <a:tr h="252730">
                <a:tc gridSpan="3">
                  <a:txBody>
                    <a:bodyPr/>
                    <a:lstStyle/>
                    <a:p>
                      <a:pPr marL="0" marR="0" algn="just" fontAlgn="base">
                        <a:lnSpc>
                          <a:spcPct val="107000"/>
                        </a:lnSpc>
                        <a:spcBef>
                          <a:spcPts val="0"/>
                        </a:spcBef>
                        <a:spcAft>
                          <a:spcPts val="0"/>
                        </a:spcAft>
                      </a:pPr>
                      <a:r>
                        <a:rPr lang="vi-VN" sz="1400">
                          <a:effectLst/>
                        </a:rPr>
                        <a:t>Ngã (Fall) </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hMerge="1">
                  <a:txBody>
                    <a:bodyPr/>
                    <a:lstStyle/>
                    <a:p>
                      <a:endParaRPr lang="en-US"/>
                    </a:p>
                  </a:txBody>
                  <a:tcPr/>
                </a:tc>
                <a:tc gridSpan="3">
                  <a:txBody>
                    <a:bodyPr/>
                    <a:lstStyle/>
                    <a:p>
                      <a:pPr marL="0" marR="0" algn="just" fontAlgn="base">
                        <a:lnSpc>
                          <a:spcPct val="107000"/>
                        </a:lnSpc>
                        <a:spcBef>
                          <a:spcPts val="0"/>
                        </a:spcBef>
                        <a:spcAft>
                          <a:spcPts val="0"/>
                        </a:spcAft>
                      </a:pPr>
                      <a:r>
                        <a:rPr lang="vi-VN" sz="1400">
                          <a:effectLst/>
                        </a:rPr>
                        <a:t>Không phải ngã (Non-Fall) </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hMerge="1">
                  <a:txBody>
                    <a:bodyPr/>
                    <a:lstStyle/>
                    <a:p>
                      <a:endParaRPr lang="en-US"/>
                    </a:p>
                  </a:txBody>
                  <a:tcPr/>
                </a:tc>
              </a:tr>
              <a:tr h="252730">
                <a:tc>
                  <a:txBody>
                    <a:bodyPr/>
                    <a:lstStyle/>
                    <a:p>
                      <a:pPr marL="0" marR="0" algn="just" fontAlgn="base">
                        <a:lnSpc>
                          <a:spcPct val="107000"/>
                        </a:lnSpc>
                        <a:spcBef>
                          <a:spcPts val="0"/>
                        </a:spcBef>
                        <a:spcAft>
                          <a:spcPts val="0"/>
                        </a:spcAft>
                      </a:pPr>
                      <a:r>
                        <a:rPr lang="vi-VN" sz="1400">
                          <a:effectLst/>
                        </a:rPr>
                        <a:t>Độ chính xác (Precision) </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Độ nhạy </a:t>
                      </a:r>
                      <a:endParaRPr lang="en-US" sz="1400">
                        <a:effectLst/>
                      </a:endParaRPr>
                    </a:p>
                    <a:p>
                      <a:pPr marL="0" marR="0" algn="just" fontAlgn="base">
                        <a:lnSpc>
                          <a:spcPct val="107000"/>
                        </a:lnSpc>
                        <a:spcBef>
                          <a:spcPts val="0"/>
                        </a:spcBef>
                        <a:spcAft>
                          <a:spcPts val="0"/>
                        </a:spcAft>
                      </a:pPr>
                      <a:r>
                        <a:rPr lang="vi-VN" sz="1400">
                          <a:effectLst/>
                        </a:rPr>
                        <a:t>(Recall) </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F1-score </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Độ chính xác (Precision) </a:t>
                      </a:r>
                      <a:endParaRPr lang="en-US" sz="1400">
                        <a:effectLst/>
                      </a:endParaRPr>
                    </a:p>
                    <a:p>
                      <a:pPr marL="0" marR="0" algn="just" fontAlgn="base">
                        <a:lnSpc>
                          <a:spcPct val="107000"/>
                        </a:lnSpc>
                        <a:spcBef>
                          <a:spcPts val="0"/>
                        </a:spcBef>
                        <a:spcAft>
                          <a:spcPts val="0"/>
                        </a:spcAft>
                      </a:pPr>
                      <a:r>
                        <a:rPr lang="vi-VN" sz="1400">
                          <a:effectLst/>
                        </a:rPr>
                        <a:t> </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Độ nhạy </a:t>
                      </a:r>
                      <a:endParaRPr lang="en-US" sz="1400">
                        <a:effectLst/>
                      </a:endParaRPr>
                    </a:p>
                    <a:p>
                      <a:pPr marL="0" marR="0" algn="just" fontAlgn="base">
                        <a:lnSpc>
                          <a:spcPct val="107000"/>
                        </a:lnSpc>
                        <a:spcBef>
                          <a:spcPts val="0"/>
                        </a:spcBef>
                        <a:spcAft>
                          <a:spcPts val="0"/>
                        </a:spcAft>
                      </a:pPr>
                      <a:r>
                        <a:rPr lang="vi-VN" sz="1400">
                          <a:effectLst/>
                        </a:rPr>
                        <a:t>(Recall) </a:t>
                      </a:r>
                      <a:endParaRPr lang="en-US" sz="1400">
                        <a:effectLst/>
                      </a:endParaRPr>
                    </a:p>
                    <a:p>
                      <a:pPr marL="0" marR="0" algn="just" fontAlgn="base">
                        <a:lnSpc>
                          <a:spcPct val="107000"/>
                        </a:lnSpc>
                        <a:spcBef>
                          <a:spcPts val="0"/>
                        </a:spcBef>
                        <a:spcAft>
                          <a:spcPts val="0"/>
                        </a:spcAft>
                      </a:pPr>
                      <a:r>
                        <a:rPr lang="vi-VN" sz="1400">
                          <a:effectLst/>
                        </a:rPr>
                        <a:t> </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F1-score </a:t>
                      </a:r>
                      <a:endParaRPr lang="en-US" sz="1400">
                        <a:effectLst/>
                      </a:endParaRPr>
                    </a:p>
                    <a:p>
                      <a:pPr marL="0" marR="0" algn="just" fontAlgn="base">
                        <a:lnSpc>
                          <a:spcPct val="107000"/>
                        </a:lnSpc>
                        <a:spcBef>
                          <a:spcPts val="0"/>
                        </a:spcBef>
                        <a:spcAft>
                          <a:spcPts val="0"/>
                        </a:spcAft>
                      </a:pPr>
                      <a:r>
                        <a:rPr lang="vi-VN" sz="1400">
                          <a:effectLst/>
                        </a:rPr>
                        <a:t> </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r h="252730">
                <a:tc>
                  <a:txBody>
                    <a:bodyPr/>
                    <a:lstStyle/>
                    <a:p>
                      <a:pPr marL="0" marR="0" algn="just" fontAlgn="base">
                        <a:lnSpc>
                          <a:spcPct val="107000"/>
                        </a:lnSpc>
                        <a:spcBef>
                          <a:spcPts val="0"/>
                        </a:spcBef>
                        <a:spcAft>
                          <a:spcPts val="0"/>
                        </a:spcAft>
                      </a:pPr>
                      <a:r>
                        <a:rPr lang="vi-VN" sz="1400">
                          <a:effectLst/>
                        </a:rPr>
                        <a:t>94,26%</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94,26%</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94,26%</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96,57%</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97,89%</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just" fontAlgn="base">
                        <a:lnSpc>
                          <a:spcPct val="107000"/>
                        </a:lnSpc>
                        <a:spcBef>
                          <a:spcPts val="0"/>
                        </a:spcBef>
                        <a:spcAft>
                          <a:spcPts val="0"/>
                        </a:spcAft>
                      </a:pPr>
                      <a:r>
                        <a:rPr lang="vi-VN" sz="1400">
                          <a:effectLst/>
                        </a:rPr>
                        <a:t>97,22%</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bl>
          </a:graphicData>
        </a:graphic>
      </p:graphicFrame>
      <p:sp>
        <p:nvSpPr>
          <p:cNvPr id="9" name="TextBox 8"/>
          <p:cNvSpPr txBox="1"/>
          <p:nvPr/>
        </p:nvSpPr>
        <p:spPr>
          <a:xfrm>
            <a:off x="4491702" y="201875"/>
            <a:ext cx="2002023" cy="369332"/>
          </a:xfrm>
          <a:prstGeom prst="rect">
            <a:avLst/>
          </a:prstGeom>
          <a:noFill/>
        </p:spPr>
        <p:txBody>
          <a:bodyPr wrap="none" rtlCol="0">
            <a:spAutoFit/>
          </a:bodyPr>
          <a:lstStyle/>
          <a:p>
            <a:r>
              <a:rPr lang="en-US" b="1" smtClean="0"/>
              <a:t>TRÍ TUỆ NHÂN TẠO</a:t>
            </a:r>
            <a:endParaRPr lang="en-US" b="1"/>
          </a:p>
        </p:txBody>
      </p:sp>
    </p:spTree>
    <p:extLst>
      <p:ext uri="{BB962C8B-B14F-4D97-AF65-F5344CB8AC3E}">
        <p14:creationId xmlns:p14="http://schemas.microsoft.com/office/powerpoint/2010/main" val="2776344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663" y="477585"/>
            <a:ext cx="2001061" cy="369332"/>
          </a:xfrm>
          <a:prstGeom prst="rect">
            <a:avLst/>
          </a:prstGeom>
          <a:noFill/>
        </p:spPr>
        <p:txBody>
          <a:bodyPr wrap="none" rtlCol="0">
            <a:spAutoFit/>
          </a:bodyPr>
          <a:lstStyle/>
          <a:p>
            <a:r>
              <a:rPr lang="en-US" b="1" smtClean="0"/>
              <a:t>Tài liệu tham khảo:</a:t>
            </a:r>
          </a:p>
        </p:txBody>
      </p:sp>
      <p:sp>
        <p:nvSpPr>
          <p:cNvPr id="6" name="Rectangle 5"/>
          <p:cNvSpPr/>
          <p:nvPr/>
        </p:nvSpPr>
        <p:spPr>
          <a:xfrm>
            <a:off x="640663" y="1004307"/>
            <a:ext cx="6096000" cy="3833742"/>
          </a:xfrm>
          <a:prstGeom prst="rect">
            <a:avLst/>
          </a:prstGeom>
        </p:spPr>
        <p:txBody>
          <a:bodyPr>
            <a:spAutoFit/>
          </a:bodyPr>
          <a:lstStyle/>
          <a:p>
            <a:pPr algn="just">
              <a:lnSpc>
                <a:spcPct val="107000"/>
              </a:lnSpc>
            </a:pPr>
            <a:r>
              <a:rPr lang="vi-VN" sz="1200" smtClean="0">
                <a:effectLst/>
                <a:latin typeface="Times New Roman" panose="02020603050405020304" pitchFamily="18" charset="0"/>
                <a:ea typeface="Times New Roman" panose="02020603050405020304" pitchFamily="18" charset="0"/>
              </a:rPr>
              <a:t>[1] Yu X, Jang J and Xiong S (2021) A Large-Scale Open Motion Dataset (KFall) and Benchmark Algorithms for Detecting Pre-impact Fall of the Elderly Using Wearable Inertial Sensors. Front. Aging Neurosci. 13:692865. doi: 10.3389/fnagi.2021.692865</a:t>
            </a:r>
            <a:endParaRPr lang="en-US" sz="1200" smtClean="0">
              <a:effectLst/>
              <a:latin typeface="Times New Roman" panose="02020603050405020304" pitchFamily="18" charset="0"/>
              <a:ea typeface="Times New Roman" panose="02020603050405020304" pitchFamily="18" charset="0"/>
            </a:endParaRPr>
          </a:p>
          <a:p>
            <a:pPr algn="just">
              <a:lnSpc>
                <a:spcPct val="107000"/>
              </a:lnSpc>
            </a:pPr>
            <a:r>
              <a:rPr lang="vi-VN" sz="1200" smtClean="0">
                <a:effectLst/>
                <a:latin typeface="Times New Roman" panose="02020603050405020304" pitchFamily="18" charset="0"/>
                <a:ea typeface="Times New Roman" panose="02020603050405020304" pitchFamily="18" charset="0"/>
              </a:rPr>
              <a:t>[2] Truong Duc P and Vu Duc T (2025) Wearable Fall Detection Device for Stroke Warning Based on IoT Technology and Convolutional Neural Network. Measurement: Interdisciplinary Research &amp; Perspectives. doi:10.1080/15366367.2025.2464970</a:t>
            </a:r>
            <a:endParaRPr lang="en-US" sz="1200" smtClean="0">
              <a:effectLst/>
              <a:latin typeface="Times New Roman" panose="02020603050405020304" pitchFamily="18" charset="0"/>
              <a:ea typeface="Times New Roman" panose="02020603050405020304" pitchFamily="18" charset="0"/>
            </a:endParaRPr>
          </a:p>
          <a:p>
            <a:pPr algn="just">
              <a:lnSpc>
                <a:spcPct val="107000"/>
              </a:lnSpc>
            </a:pPr>
            <a:r>
              <a:rPr lang="vi-VN" sz="1200" smtClean="0">
                <a:effectLst/>
                <a:latin typeface="Times New Roman" panose="02020603050405020304" pitchFamily="18" charset="0"/>
                <a:ea typeface="Times New Roman" panose="02020603050405020304" pitchFamily="18" charset="0"/>
              </a:rPr>
              <a:t>[3] Phuc, P. H., Toan, V. D., Ha, T. Q., Nghia, V. H., Thu, L. T. M., Son, B. C., &amp; Phuc T. C. (2023). High accurate stroke prediction smart necklace device based on IoT and machine learning algorithm. 2023 1st International Conference on Health Science and Technology (ICHST) (pp. 1–6). Hanoi, Vietnam. </a:t>
            </a:r>
            <a:r>
              <a:rPr lang="vi-VN" sz="1200" u="sng" smtClean="0">
                <a:solidFill>
                  <a:srgbClr val="0563C1"/>
                </a:solidFill>
                <a:effectLst/>
                <a:latin typeface="Times New Roman" panose="02020603050405020304" pitchFamily="18" charset="0"/>
                <a:ea typeface="Times New Roman" panose="02020603050405020304" pitchFamily="18" charset="0"/>
                <a:hlinkClick r:id="rId2"/>
              </a:rPr>
              <a:t>https://doi.org/10.1109/ICHST59286.2023.10565374</a:t>
            </a:r>
            <a:endParaRPr lang="en-US" sz="1200" smtClean="0">
              <a:effectLst/>
              <a:latin typeface="Times New Roman" panose="02020603050405020304" pitchFamily="18" charset="0"/>
              <a:ea typeface="Times New Roman" panose="02020603050405020304" pitchFamily="18" charset="0"/>
            </a:endParaRPr>
          </a:p>
          <a:p>
            <a:pPr algn="just">
              <a:lnSpc>
                <a:spcPct val="107000"/>
              </a:lnSpc>
            </a:pPr>
            <a:r>
              <a:rPr lang="vi-VN" sz="1200" smtClean="0">
                <a:effectLst/>
                <a:latin typeface="Times New Roman" panose="02020603050405020304" pitchFamily="18" charset="0"/>
                <a:ea typeface="Times New Roman" panose="02020603050405020304" pitchFamily="18" charset="0"/>
              </a:rPr>
              <a:t>[4] Phuc, T. D., Phuc, T. D., Phuc, P. H., Toan, V. D., Ha, T. Q., Nghia V. H., &amp; Thu L. T. M. (2023). Development of a smart necklace for stroke warning based on IoT and convolutional neural network deep learning Techiniques. In 2023 1st International Conference on Health Science and Technology (ICHST) (pp. 1–6, Hanoi, Vietnam. </a:t>
            </a:r>
            <a:r>
              <a:rPr lang="vi-VN" sz="1200" u="sng" smtClean="0">
                <a:solidFill>
                  <a:srgbClr val="0563C1"/>
                </a:solidFill>
                <a:effectLst/>
                <a:latin typeface="Times New Roman" panose="02020603050405020304" pitchFamily="18" charset="0"/>
                <a:ea typeface="Times New Roman" panose="02020603050405020304" pitchFamily="18" charset="0"/>
                <a:hlinkClick r:id="rId3"/>
              </a:rPr>
              <a:t>https://doi.org/10.1109/ICHST59286.2023.10565368</a:t>
            </a:r>
            <a:endParaRPr lang="en-US" sz="1200" smtClean="0">
              <a:effectLst/>
              <a:latin typeface="Times New Roman" panose="02020603050405020304" pitchFamily="18" charset="0"/>
              <a:ea typeface="Times New Roman" panose="02020603050405020304" pitchFamily="18" charset="0"/>
            </a:endParaRPr>
          </a:p>
          <a:p>
            <a:pPr algn="just">
              <a:lnSpc>
                <a:spcPct val="107000"/>
              </a:lnSpc>
            </a:pPr>
            <a:r>
              <a:rPr lang="vi-VN" sz="1200" smtClean="0">
                <a:effectLst/>
                <a:latin typeface="Times New Roman" panose="02020603050405020304" pitchFamily="18" charset="0"/>
                <a:ea typeface="Times New Roman" panose="02020603050405020304" pitchFamily="18" charset="0"/>
              </a:rPr>
              <a:t>[5] Yang, J., Nguyen, M.N., San P.P., Li X., Krishnaswamy S. (2015), Deep Convolutional Neural Networks on Multichannel Time Series for Human Activity Recognition. In Proceedings of the 24th International Conference on Artificial Intelligence (IJCAI’15), Buenos Aires, Argentina, 25-31 July 2015; pp. 3995-4001.</a:t>
            </a:r>
            <a:endParaRPr lang="en-US" sz="12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79256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838</Words>
  <Application>Microsoft Office PowerPoint</Application>
  <PresentationFormat>Widescreen</PresentationFormat>
  <Paragraphs>83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Segoe WPC</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DUC VU/LGEDV VHA TEAM(toan.vu@lge.com)</dc:creator>
  <cp:lastModifiedBy>TOAN DUC VU/LGEDV VHA TEAM(toan.vu@lge.com)</cp:lastModifiedBy>
  <cp:revision>7</cp:revision>
  <dcterms:created xsi:type="dcterms:W3CDTF">2025-12-08T16:30:01Z</dcterms:created>
  <dcterms:modified xsi:type="dcterms:W3CDTF">2025-12-08T17:21:08Z</dcterms:modified>
</cp:coreProperties>
</file>